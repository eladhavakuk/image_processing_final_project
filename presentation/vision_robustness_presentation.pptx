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d havakuk" userId="290fa8c32d682f8d" providerId="LiveId" clId="{39E074DB-14B4-4067-BA57-A13FB522F1C6}"/>
    <pc:docChg chg="undo custSel modSld">
      <pc:chgData name="Elad havakuk" userId="290fa8c32d682f8d" providerId="LiveId" clId="{39E074DB-14B4-4067-BA57-A13FB522F1C6}" dt="2026-07-21T18:14:15.390" v="61" actId="20577"/>
      <pc:docMkLst>
        <pc:docMk/>
      </pc:docMkLst>
      <pc:sldChg chg="modSp mod">
        <pc:chgData name="Elad havakuk" userId="290fa8c32d682f8d" providerId="LiveId" clId="{39E074DB-14B4-4067-BA57-A13FB522F1C6}" dt="2026-07-21T18:08:23.359" v="3" actId="20577"/>
        <pc:sldMkLst>
          <pc:docMk/>
          <pc:sldMk cId="0" sldId="259"/>
        </pc:sldMkLst>
        <pc:spChg chg="mod">
          <ac:chgData name="Elad havakuk" userId="290fa8c32d682f8d" providerId="LiveId" clId="{39E074DB-14B4-4067-BA57-A13FB522F1C6}" dt="2026-07-21T18:08:23.359" v="3" actId="20577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Elad havakuk" userId="290fa8c32d682f8d" providerId="LiveId" clId="{39E074DB-14B4-4067-BA57-A13FB522F1C6}" dt="2026-07-21T18:13:23.156" v="12" actId="1076"/>
        <pc:sldMkLst>
          <pc:docMk/>
          <pc:sldMk cId="0" sldId="268"/>
        </pc:sldMkLst>
        <pc:spChg chg="del">
          <ac:chgData name="Elad havakuk" userId="290fa8c32d682f8d" providerId="LiveId" clId="{39E074DB-14B4-4067-BA57-A13FB522F1C6}" dt="2026-07-21T18:13:05.614" v="8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3:06.717" v="9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3:05.614" v="8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3:05.614" v="8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3:05.614" v="8" actId="4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13" creationId="{00000000-0000-0000-0000-000000000000}"/>
          </ac:spMkLst>
        </pc:spChg>
        <pc:spChg chg="add del">
          <ac:chgData name="Elad havakuk" userId="290fa8c32d682f8d" providerId="LiveId" clId="{39E074DB-14B4-4067-BA57-A13FB522F1C6}" dt="2026-07-21T18:12:57.157" v="6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2:58.885" v="7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2:57.157" v="6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2:57.157" v="6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Elad havakuk" userId="290fa8c32d682f8d" providerId="LiveId" clId="{39E074DB-14B4-4067-BA57-A13FB522F1C6}" dt="2026-07-21T18:12:57.157" v="6" actId="478"/>
          <ac:spMkLst>
            <pc:docMk/>
            <pc:sldMk cId="0" sldId="268"/>
            <ac:spMk id="18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Elad havakuk" userId="290fa8c32d682f8d" providerId="LiveId" clId="{39E074DB-14B4-4067-BA57-A13FB522F1C6}" dt="2026-07-21T18:13:23.156" v="12" actId="1076"/>
          <ac:spMkLst>
            <pc:docMk/>
            <pc:sldMk cId="0" sldId="268"/>
            <ac:spMk id="23" creationId="{00000000-0000-0000-0000-000000000000}"/>
          </ac:spMkLst>
        </pc:spChg>
      </pc:sldChg>
      <pc:sldChg chg="modSp mod">
        <pc:chgData name="Elad havakuk" userId="290fa8c32d682f8d" providerId="LiveId" clId="{39E074DB-14B4-4067-BA57-A13FB522F1C6}" dt="2026-07-21T18:14:15.390" v="61" actId="20577"/>
        <pc:sldMkLst>
          <pc:docMk/>
          <pc:sldMk cId="0" sldId="269"/>
        </pc:sldMkLst>
        <pc:spChg chg="mod">
          <ac:chgData name="Elad havakuk" userId="290fa8c32d682f8d" providerId="LiveId" clId="{39E074DB-14B4-4067-BA57-A13FB522F1C6}" dt="2026-07-21T18:14:15.390" v="61" actId="20577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389120"/>
            <a:ext cx="3291840" cy="329184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ROBUSTNESS OF VISION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5A623"/>
                </a:solidFill>
                <a:latin typeface="Cambria"/>
              </a:rPr>
              <a:t>Under Real-World Image Distortions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Classical &amp; deep-learning vision tasks, evaluated on real driving imagery —
compression, low-light, and motion-blur distortions, classical restoration,
and YOLO fine-tuning.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BB0"/>
                </a:solidFill>
                <a:latin typeface="Calibri"/>
              </a:rPr>
              <a:t>Digital Image Processing &amp; Computer Vision —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Project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1673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316736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BDD100K — 150-image subset with real detection ground truth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76272"/>
            <a:ext cx="502920" cy="50292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21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2140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Edge/Corner detection, Line detection (both low-level, classical) + Object detection (high-level, DL)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80944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809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Distortions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26079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Compression, Low-light, Motion blur — all directly relevant to dashcam footage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785615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8561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3075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5 calibrated levels per distortion, measured in PSNR (dB)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590288"/>
            <a:ext cx="502920" cy="50292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354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Restoration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535424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Bilateral deblocking, Gamma+CLAHE, Wiener deconvolution (tuned per severity) — matched to each distortion's cause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394959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4009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Fine-tuning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340096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YOLOv8n only — the classical tasks have no trainable weights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Four-Stage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7A"/>
                </a:solidFill>
                <a:latin typeface="Calibri"/>
              </a:rPr>
              <a:t>Every image passes through all four stages, evaluated on all 3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23060" y="265176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306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Baseline evaluation
on the original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320040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66260" y="265176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626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2900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DISTORTED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3 distortions × 5 severity
levels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0040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09460" y="2651760"/>
            <a:ext cx="640080" cy="64008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946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342900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RESTORED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Classical restoration
applied to distorted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0040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52660" y="2651760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5266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2900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FINE-TUNED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4048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YOLOv8n fine-tuned on
distorted images (detection 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B7A"/>
                </a:solidFill>
                <a:latin typeface="Calibri"/>
              </a:rPr>
              <a:t>100 images × (1 clean + 3 distortions × 5 levels × 2 stages) → 1,600 image variants across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Dataset: BDD100K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86AB"/>
                </a:solidFill>
                <a:latin typeface="Cambria"/>
              </a:rPr>
              <a:t>Why BDD100K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5696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50" dirty="0">
                <a:solidFill>
                  <a:srgbClr val="1B2A41"/>
                </a:solidFill>
                <a:latin typeface="Calibri"/>
              </a:rPr>
              <a:t>●  Real driving footage with genuine detection ground truth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50" dirty="0">
                <a:solidFill>
                  <a:srgbClr val="1B2A41"/>
                </a:solidFill>
                <a:latin typeface="Calibri"/>
              </a:rPr>
              <a:t>●  150-image subset, train split — small but sufficient for this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86AB"/>
                </a:solidFill>
                <a:latin typeface="Cambria"/>
              </a:rPr>
              <a:t>Class distribution (150-image subset)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3913632"/>
            <a:ext cx="3291840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57800" y="38862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1543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traffic 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297680"/>
            <a:ext cx="853360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9320" y="427024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5429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truck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4681728"/>
            <a:ext cx="177072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3032" y="465429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3834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5065776"/>
            <a:ext cx="91736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696" y="503834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2239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449824"/>
            <a:ext cx="73152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39112" y="542239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13</a:t>
            </a:r>
          </a:p>
        </p:txBody>
      </p:sp>
      <p:pic>
        <p:nvPicPr>
          <p:cNvPr id="21" name="Picture 20" descr="detecti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80160"/>
            <a:ext cx="5486400" cy="21579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34747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A6B7A"/>
                </a:solidFill>
                <a:latin typeface="Calibri"/>
              </a:rPr>
              <a:t>GT sanity check — predictions (green) vs. ground truth (red), clean vs. severe low-light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16052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315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1"/>
                </a:solidFill>
                <a:latin typeface="Cambria"/>
              </a:rPr>
              <a:t>Known 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A"/>
                </a:solidFill>
                <a:latin typeface="Calibri"/>
              </a:rPr>
              <a:t>Zero bicycle/motorcycle/train instances in this sample; heavily skewed toward cars and traffic lights. Per-class metrics for rare classes aren't meaningful at this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Three Tasks: Low-Level + High-Level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19" y="1691640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Edge / Corner
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LOW-LEVEL · CLASSICAL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cv2.Canny + goodFeaturesToTrack (Shi-Tomasi) + ORB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No GT exists — measured against the clean image's own output (edge IoU, corner ratio, ORB match ratio)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9159" y="1691640"/>
            <a:ext cx="594360" cy="59436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Line
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LOW-LEVEL · CLASSICAL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9476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cv2.Canny + HoughLinesP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Replaced an original optical-flow/tracking plan that needed video frames we didn't have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58199" y="1691640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199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Object
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324612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HIGH-LEVEL · 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9476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ultralytics YOLOv8n (COCO-pretrained)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The one task with real ground truth — scored with proper IoU-matched precision/recall/F1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Three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Chosen for direct relevance to dashcam/driving conditions — 5 calibrated severity levels each, measured in PSNR (dB)</a:t>
            </a:r>
          </a:p>
        </p:txBody>
      </p:sp>
      <p:pic>
        <p:nvPicPr>
          <p:cNvPr id="4" name="Picture 3" descr="before_afte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71600"/>
            <a:ext cx="5715000" cy="39593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55448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996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quality 50→3 → ~39→24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39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551175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Low-light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7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brightness -0.2→-0.9 → ~18→7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599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602735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Motion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7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kernel 5→31px → ~33→25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A6B7A"/>
                </a:solidFill>
                <a:latin typeface="Calibri"/>
              </a:rPr>
              <a:t>Motion blur uses a known, controlled linear kernel (not random) — so restoration can be genuine non-blind deconvolution.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Restoration Methods (Stage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86AB"/>
                </a:solidFill>
                <a:latin typeface="Calibri"/>
              </a:rPr>
              <a:t>Bilateral filter on Y (luma) channel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19072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Smooths blocking artifacts while preserving color and most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8211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Low-light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3931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A623"/>
                </a:solidFill>
                <a:latin typeface="Calibri"/>
              </a:rPr>
              <a:t>Gamma correction (γ=0.35) + CLAHE on L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73552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Lifts shadow detail, then boosts local contrast without blowing out highlights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Motion blur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9379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8C5A"/>
                </a:solidFill>
                <a:latin typeface="Calibri"/>
              </a:rPr>
              <a:t>Wiener deconvolution, regularization tuned per severity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28032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Best detection F1 of 3 methods explicitly compared (0.357 vs. 0.323 for no restoration) — see next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1"/>
                </a:solidFill>
                <a:latin typeface="Cambria"/>
              </a:rPr>
              <a:t>Restoration Method Comparison: Motion Blur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Three methods, kept side by side on purpose — no single metric predicted the best one for the actual task</a:t>
            </a:r>
          </a:p>
        </p:txBody>
      </p:sp>
      <p:pic>
        <p:nvPicPr>
          <p:cNvPr id="4" name="Picture 3" descr="motion_blur_metho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091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70916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Det.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7091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PSNR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70916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7091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02005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Distorted (none)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02005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005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27.66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02005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020056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33095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Wiener (fixed)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33095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3095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25.70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330952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2.78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3095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collapses at severe level (F1=0.017)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4184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Wiener (tuned)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64184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641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28.31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6418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1.49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418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production choice — best detection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5274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Richardson-Lucy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95274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0.291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95274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27.58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9527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2.04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95274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cleanest-looking, worst for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663440"/>
            <a:ext cx="10927080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Results: Object Detection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Detection F1 vs. real BDD100K ground truth — solid = distorted, dashed = after restoration</a:t>
            </a:r>
          </a:p>
        </p:txBody>
      </p:sp>
      <p:pic>
        <p:nvPicPr>
          <p:cNvPr id="4" name="Picture 3" descr="det_f1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17320"/>
            <a:ext cx="9326880" cy="5102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Results: Edge/Corner &amp; Line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Measured against each image's own clean-image output (no external GT available for these low-level tasks)</a:t>
            </a:r>
          </a:p>
        </p:txBody>
      </p:sp>
      <p:pic>
        <p:nvPicPr>
          <p:cNvPr id="4" name="Picture 3" descr="edge_iou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760720" cy="3154680"/>
          </a:xfrm>
          <a:prstGeom prst="rect">
            <a:avLst/>
          </a:prstGeom>
        </p:spPr>
      </p:pic>
      <p:pic>
        <p:nvPicPr>
          <p:cNvPr id="5" name="Picture 4" descr="line_iou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Notable: </a:t>
            </a:r>
            <a:r>
              <a:rPr sz="1350" b="0" i="0">
                <a:solidFill>
                  <a:srgbClr val="5A6B7A"/>
                </a:solidFill>
                <a:latin typeface="Calibri"/>
              </a:rPr>
              <a:t>with the production restoration method (tuned Wiener), motion blur improves on both fronts at every severity level — edge IoU 0.44→0.51 and detection F1 0.32→0.36 — but that wasn't true for every method tried; see the dedicated comparison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Key Findings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07007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Clear degradation with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Compression detection F1 falls from 0.45 (mild) to 0.15 (severe) as SNR drops.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67712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Restoration helps most when things are worst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9464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Deblocking barely changes mild-compression F1, but meaningfully helps at severe levels.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255264"/>
            <a:ext cx="457200" cy="45720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552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8211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Pixel quality ≠ downstream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57016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Low-light restoration improves SNR (9.4→12.2 dB) but slightly hurts detection F1.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69664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“Cleanest-looking” restoration isn't always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4456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Richardson-Lucy looks cleanest but has the worst detection F1 of 3 methods (0.291); tuned Wiener wins on the metric that matters (0.357) despite more visible artifact.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5721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Baseline domain gap motivates 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Even on clean images, stock YOLOv8n only reaches F1=0.45 against BDD100K's real 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B0"/>
                </a:solidFill>
                <a:latin typeface="Calibri"/>
              </a:rPr>
              <a:t>Vision Robustness Under Distortion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Fine-Tuning (Stage 4)</a:t>
            </a:r>
          </a:p>
        </p:txBody>
      </p:sp>
      <p:pic>
        <p:nvPicPr>
          <p:cNvPr id="3" name="Picture 2" descr="finetun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035040" cy="34838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1097280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78040" y="1234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A"/>
                </a:solidFill>
                <a:latin typeface="Calibri"/>
              </a:rPr>
              <a:t>Overall Detection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536192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trike="sngStrike">
                <a:solidFill>
                  <a:srgbClr val="5A6B7A"/>
                </a:solidFill>
                <a:latin typeface="Cambria"/>
              </a:rPr>
              <a:t>0.267 </a:t>
            </a:r>
            <a:r>
              <a:rPr sz="2200" b="0" i="0">
                <a:solidFill>
                  <a:srgbClr val="5A6B7A"/>
                </a:solidFill>
                <a:latin typeface="Cambria"/>
              </a:rPr>
              <a:t> →  </a:t>
            </a:r>
            <a:r>
              <a:rPr sz="3000" b="1" i="0">
                <a:solidFill>
                  <a:srgbClr val="F5A623"/>
                </a:solidFill>
                <a:latin typeface="Cambria"/>
              </a:rPr>
              <a:t>0.261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2194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A6B7A"/>
                </a:solidFill>
                <a:latin typeface="Calibri"/>
              </a:rPr>
              <a:t>baseline → fine-tuned (held-out distorted 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880360"/>
            <a:ext cx="46634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3063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41"/>
                </a:solidFill>
                <a:latin typeface="Cambria"/>
              </a:rPr>
              <a:t>Honest result: no clear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456432"/>
            <a:ext cx="41148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F1 is essentially flat overall — small recall gain traded for a precision drop. Results are mixed per distortion (compression improved slightly, low-light got worse).
Expected at this scale: 40–50 training images, 5–8 epochs, CPU-only — squarely the regime where catastrophic forgetting can outweigh adaptation.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Process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Real friction points hit while building this — documented, not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13964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588284"/>
            <a:ext cx="457200" cy="45720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882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405404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1GB label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05404"/>
            <a:ext cx="6903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BDD100K's full label file (~70k entries) was too big to hand off. A local script filtered it down to the 150 images actually used, in under 1MB.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82844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057164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0571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74284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A restoration bug, chased across 3 attempts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74284"/>
            <a:ext cx="6903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Fixed-balance Wiener caused striping; tuning it per-level fixed that. Richardson-Lucy then looked even better on one test image — but a full 150-image comparison showed it actually has the worst detection F1 of all 3. Tuned Wiener (the one abandoned in step 2) is the real winner.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4480560"/>
            <a:ext cx="3657600" cy="365760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Limitations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601200" cy="16852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dirty="0">
                <a:solidFill>
                  <a:srgbClr val="CADCFC"/>
                </a:solidFill>
                <a:latin typeface="Calibri"/>
              </a:rPr>
              <a:t>●  Small scale by design (150 images) — explicitly permitted for this course project; pipeline scales to any N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dirty="0">
                <a:solidFill>
                  <a:srgbClr val="CADCFC"/>
                </a:solidFill>
                <a:latin typeface="Calibri"/>
              </a:rPr>
              <a:t>●  Class imbalance: zero bicycle/motorcycle/train instances in this sample</a:t>
            </a:r>
            <a:r>
              <a:rPr lang="en-US" sz="1400" dirty="0">
                <a:solidFill>
                  <a:srgbClr val="CADCFC"/>
                </a:solidFill>
                <a:latin typeface="Calibri"/>
              </a:rPr>
              <a:t> – needed to choose the subset </a:t>
            </a:r>
            <a:r>
              <a:rPr lang="en-US" sz="1400">
                <a:solidFill>
                  <a:srgbClr val="CADCFC"/>
                </a:solidFill>
                <a:latin typeface="Calibri"/>
              </a:rPr>
              <a:t>with this in mind</a:t>
            </a:r>
            <a:endParaRPr sz="1400">
              <a:solidFill>
                <a:srgbClr val="CADCFC"/>
              </a:solidFill>
              <a:latin typeface="Calibri"/>
            </a:endParaR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dirty="0">
                <a:solidFill>
                  <a:srgbClr val="CADCFC"/>
                </a:solidFill>
                <a:latin typeface="Calibri"/>
              </a:rPr>
              <a:t>●  Edge/corner and line detection use clean-image-as-reference, not external ground truth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dirty="0">
                <a:solidFill>
                  <a:srgbClr val="CADCFC"/>
                </a:solidFill>
                <a:latin typeface="Calibri"/>
              </a:rPr>
              <a:t>●  BDD100K → COCO class mapping is approximate (“rider” folds into “person”; “traffic sign” dropped)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dirty="0">
                <a:solidFill>
                  <a:srgbClr val="CADCFC"/>
                </a:solidFill>
                <a:latin typeface="Calibri"/>
              </a:rPr>
              <a:t>●  Fine-tuning is a proof of concept, not a production training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7772400" cy="18288"/>
          </a:xfrm>
          <a:prstGeom prst="rect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Full code, data, results, and this report: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A623"/>
                </a:solidFill>
                <a:latin typeface="Cambria"/>
              </a:rPr>
              <a:t>github.com  —  see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1276</Words>
  <Application>Microsoft Office PowerPoint</Application>
  <PresentationFormat>מסך רחב</PresentationFormat>
  <Paragraphs>178</Paragraphs>
  <Slides>14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Elad havakuk</cp:lastModifiedBy>
  <cp:revision>1</cp:revision>
  <dcterms:created xsi:type="dcterms:W3CDTF">2013-01-27T09:14:16Z</dcterms:created>
  <dcterms:modified xsi:type="dcterms:W3CDTF">2026-07-21T18:14:24Z</dcterms:modified>
  <cp:category/>
</cp:coreProperties>
</file>