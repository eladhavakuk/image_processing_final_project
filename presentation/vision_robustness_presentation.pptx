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2E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4389120"/>
            <a:ext cx="3291840" cy="3291840"/>
          </a:xfrm>
          <a:prstGeom prst="ellipse">
            <a:avLst/>
          </a:prstGeom>
          <a:solidFill>
            <a:srgbClr val="2E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ROBUSTNESS OF VISION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F5A623"/>
                </a:solidFill>
                <a:latin typeface="Cambria"/>
              </a:rPr>
              <a:t>Under Real-World Image Distortions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Classical &amp; deep-learning vision tasks, evaluated on real driving imagery —
compression, low-light, and motion-blur distortions, classical restoration,
and YOLO fine-tuning.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BB0"/>
                </a:solidFill>
                <a:latin typeface="Calibri"/>
              </a:rPr>
              <a:t>Digital Image Processing &amp; Computer Vision — Course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Project at a Glance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1673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13167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BDD100K — 150-image subset with real detection ground truth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176272"/>
            <a:ext cx="502920" cy="50292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214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121408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Edge/Corner detection, Line detection (both low-level, classical) + Object detection (high-level, DL)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980944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8094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260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Distortions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926079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Compression, Low-light, Motion blur — all directly relevant to dashcam footage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785615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85615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73075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730752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5 calibrated levels per distortion, measured in PSNR (dB)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590288"/>
            <a:ext cx="502920" cy="50292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9028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53542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Restoration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45354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Bilateral deblocking, Gamma+CLAHE, Wiener deconvolution (tuned per severity) — matched to each distortion's cause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394959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9495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3400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Fine-tuning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534009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YOLOv8n only — the classical tasks have no trainable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Four-Stage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A6B7A"/>
                </a:solidFill>
                <a:latin typeface="Calibri"/>
              </a:rPr>
              <a:t>Every image passes through all four stages, evaluated on all 3 tasks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317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23060" y="2651760"/>
            <a:ext cx="640080" cy="64008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23060" y="2651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148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A41"/>
                </a:solidFill>
                <a:latin typeface="Cambria"/>
              </a:rPr>
              <a:t>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A6B7A"/>
                </a:solidFill>
                <a:latin typeface="Calibri"/>
              </a:rPr>
              <a:t>Baseline evaluation
on the original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79" y="32004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B7C2CC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2377440"/>
            <a:ext cx="23317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66260" y="265176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6260" y="2651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429000"/>
            <a:ext cx="2148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A41"/>
                </a:solidFill>
                <a:latin typeface="Cambria"/>
              </a:rPr>
              <a:t>DISTORTED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A6B7A"/>
                </a:solidFill>
                <a:latin typeface="Calibri"/>
              </a:rPr>
              <a:t>3 distortions × 5 severity
levels applied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2004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B7C2CC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377440"/>
            <a:ext cx="23317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09460" y="2651760"/>
            <a:ext cx="640080" cy="64008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9460" y="2651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79" y="3429000"/>
            <a:ext cx="2148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A41"/>
                </a:solidFill>
                <a:latin typeface="Cambria"/>
              </a:rPr>
              <a:t>RESTORED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A6B7A"/>
                </a:solidFill>
                <a:latin typeface="Calibri"/>
              </a:rPr>
              <a:t>Classical restoration
applied to distorted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2004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B7C2CC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2377440"/>
            <a:ext cx="23317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52660" y="2651760"/>
            <a:ext cx="640080" cy="640080"/>
          </a:xfrm>
          <a:prstGeom prst="ellipse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2660" y="2651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429000"/>
            <a:ext cx="2148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B2A41"/>
                </a:solidFill>
                <a:latin typeface="Cambria"/>
              </a:rPr>
              <a:t>FINE-TUNED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8404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A6B7A"/>
                </a:solidFill>
                <a:latin typeface="Calibri"/>
              </a:rPr>
              <a:t>YOLOv8n fine-tuned on
distorted images (detection 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1663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5A6B7A"/>
                </a:solidFill>
                <a:latin typeface="Calibri"/>
              </a:rPr>
              <a:t>100 images × (1 clean + 3 distortions × 5 levels × 2 stages) → 1,600 image variants across the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Dataset: BDD100K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86AB"/>
                </a:solidFill>
                <a:latin typeface="Cambria"/>
              </a:rPr>
              <a:t>Why BDD100K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350">
                <a:solidFill>
                  <a:srgbClr val="1B2A41"/>
                </a:solidFill>
                <a:latin typeface="Calibri"/>
              </a:rPr>
              <a:t>●  Real driving footage with genuine detection ground truth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350">
                <a:solidFill>
                  <a:srgbClr val="1B2A41"/>
                </a:solidFill>
                <a:latin typeface="Calibri"/>
              </a:rPr>
              <a:t>●  Cityscapes and KITTI both required login-gated downloads that couldn't be scripted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350">
                <a:solidFill>
                  <a:srgbClr val="1B2A41"/>
                </a:solidFill>
                <a:latin typeface="Calibri"/>
              </a:rPr>
              <a:t>●  150-image subset, train split — small but sufficient for this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86AB"/>
                </a:solidFill>
                <a:latin typeface="Cambria"/>
              </a:rPr>
              <a:t>Class distribution (150-image subset)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862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74519" y="3913632"/>
            <a:ext cx="3291840" cy="23774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7800" y="388620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A"/>
                </a:solidFill>
                <a:latin typeface="Calibri"/>
              </a:rPr>
              <a:t>1543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7024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traffic 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74519" y="4297680"/>
            <a:ext cx="853360" cy="23774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9320" y="427024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A"/>
                </a:solidFill>
                <a:latin typeface="Calibri"/>
              </a:rPr>
              <a:t>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5429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truck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4681728"/>
            <a:ext cx="177072" cy="23774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3032" y="465429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A"/>
                </a:solidFill>
                <a:latin typeface="Calibri"/>
              </a:rPr>
              <a:t>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bus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5065776"/>
            <a:ext cx="91736" cy="23774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696" y="5038344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A"/>
                </a:solidFill>
                <a:latin typeface="Calibri"/>
              </a:rP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2239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person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5449824"/>
            <a:ext cx="73152" cy="23774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9112" y="542239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7A"/>
                </a:solidFill>
                <a:latin typeface="Calibri"/>
              </a:rPr>
              <a:t>13</a:t>
            </a:r>
          </a:p>
        </p:txBody>
      </p:sp>
      <p:pic>
        <p:nvPicPr>
          <p:cNvPr id="21" name="Picture 20" descr="detection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280160"/>
            <a:ext cx="5486400" cy="21579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0760" y="34747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A6B7A"/>
                </a:solidFill>
                <a:latin typeface="Calibri"/>
              </a:rPr>
              <a:t>GT sanity check — predictions (green) vs. ground truth (red), clean vs. severe low-light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416052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3159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1"/>
                </a:solidFill>
                <a:latin typeface="Cambria"/>
              </a:rPr>
              <a:t>Known limitation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6634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B7A"/>
                </a:solidFill>
                <a:latin typeface="Calibri"/>
              </a:rPr>
              <a:t>Zero bicycle/motorcycle/train instances in this sample; heavily skewed toward cars and traffic lights. Per-class metrics for rare classes aren't meaningful at this scale.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Three Tasks: Low-Level + High-Level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29000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19" y="1691640"/>
            <a:ext cx="594360" cy="59436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69164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B2A41"/>
                </a:solidFill>
                <a:latin typeface="Cambria"/>
              </a:rPr>
              <a:t>Edge / Corner
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LOW-LEVEL · CLASSICAL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2A41"/>
                </a:solidFill>
                <a:latin typeface="Calibri"/>
              </a:rPr>
              <a:t>cv2.Canny + goodFeaturesToTrack (Shi-Tomasi) + ORB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28803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5A6B7A"/>
                </a:solidFill>
                <a:latin typeface="Calibri"/>
              </a:rPr>
              <a:t>No GT exists — measured against the clean image's own output (edge IoU, corner ratio, ORB match ratio)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71600"/>
            <a:ext cx="3429000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59" y="1691640"/>
            <a:ext cx="594360" cy="59436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69164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B2A41"/>
                </a:solidFill>
                <a:latin typeface="Cambria"/>
              </a:rPr>
              <a:t>Line
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LOW-LEVEL · CLASSICAL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94760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2A41"/>
                </a:solidFill>
                <a:latin typeface="Calibri"/>
              </a:rPr>
              <a:t>cv2.Canny + HoughLinesP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617720"/>
            <a:ext cx="28803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5A6B7A"/>
                </a:solidFill>
                <a:latin typeface="Calibri"/>
              </a:rPr>
              <a:t>Replaced an original optical-flow/tracking plan that needed video frames we didn't have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1371600"/>
            <a:ext cx="3429000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58199" y="1691640"/>
            <a:ext cx="594360" cy="5943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199" y="169164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423160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B2A41"/>
                </a:solidFill>
                <a:latin typeface="Cambria"/>
              </a:rPr>
              <a:t>Object
Detection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24612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246120"/>
            <a:ext cx="2880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HIGH-LEVEL · DEEP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794760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B2A41"/>
                </a:solidFill>
                <a:latin typeface="Calibri"/>
              </a:rPr>
              <a:t>ultralytics YOLOv8n (COCO-pretrained)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617720"/>
            <a:ext cx="28803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5A6B7A"/>
                </a:solidFill>
                <a:latin typeface="Calibri"/>
              </a:rPr>
              <a:t>The one task with real ground truth — scored with proper IoU-matched precision/recall/F1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Three Distortions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Chosen for direct relevance to dashcam/driving conditions — 5 calibrated severity levels each, measured in PSNR (dB)</a:t>
            </a:r>
          </a:p>
        </p:txBody>
      </p:sp>
      <p:pic>
        <p:nvPicPr>
          <p:cNvPr id="4" name="Picture 3" descr="before_after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371600"/>
            <a:ext cx="5715000" cy="395935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554480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9961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Compression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47088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quality 50→3 → ~39→24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39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51175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Low-light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8647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brightness -0.2→-0.9 → ~18→7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599"/>
            <a:ext cx="256032" cy="256032"/>
          </a:xfrm>
          <a:prstGeom prst="roundRect">
            <a:avLst>
              <a:gd name="adj" fmla="val 20000"/>
            </a:avLst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602735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Motion blur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50207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kernel 5→31px → ~33→25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9204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5A6B7A"/>
                </a:solidFill>
                <a:latin typeface="Calibri"/>
              </a:rPr>
              <a:t>Motion blur uses a known, controlled linear kernel (not random) — so restoration can be genuine non-blind deconvolution.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Restoration Methods (Stage 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6276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Compression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E86AB"/>
                </a:solidFill>
                <a:latin typeface="Calibri"/>
              </a:rPr>
              <a:t>Bilateral filter on Y (luma) channel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7190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A"/>
                </a:solidFill>
                <a:latin typeface="Calibri"/>
              </a:rPr>
              <a:t>Smooths blocking artifacts while preserving color and most edges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821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Low-light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3931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5A623"/>
                </a:solidFill>
                <a:latin typeface="Calibri"/>
              </a:rPr>
              <a:t>Gamma correction (γ=0.35) + CLAHE on L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7355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A"/>
                </a:solidFill>
                <a:latin typeface="Calibri"/>
              </a:rPr>
              <a:t>Lifts shadow detail, then boosts local contrast without blowing out highlights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4983480"/>
            <a:ext cx="548640" cy="54864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365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B2A41"/>
                </a:solidFill>
                <a:latin typeface="Cambria"/>
              </a:rPr>
              <a:t>Motion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9379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8C5A"/>
                </a:solidFill>
                <a:latin typeface="Calibri"/>
              </a:rPr>
              <a:t>Wiener deconvolution, regularization tuned per severity level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2803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B7A"/>
                </a:solidFill>
                <a:latin typeface="Calibri"/>
              </a:rPr>
              <a:t>Best detection F1 of 3 methods explicitly compared (0.357 vs. 0.323 for no restoration) — see next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B2A41"/>
                </a:solidFill>
                <a:latin typeface="Cambria"/>
              </a:rPr>
              <a:t>Restoration Method Comparison: Motion Blur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Three methods, kept side by side on purpose — no single metric predicted the best one for the actual task</a:t>
            </a:r>
          </a:p>
        </p:txBody>
      </p:sp>
      <p:pic>
        <p:nvPicPr>
          <p:cNvPr id="4" name="Picture 3" descr="motion_blur_method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709160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B7A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470916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B7A"/>
                </a:solidFill>
                <a:latin typeface="Calibri"/>
              </a:rPr>
              <a:t>Det.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70916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B7A"/>
                </a:solidFill>
                <a:latin typeface="Calibri"/>
              </a:rPr>
              <a:t>PSNR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70916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B7A"/>
                </a:solidFill>
                <a:latin typeface="Calibri"/>
              </a:rPr>
              <a:t>Stripe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70916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B7A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0056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Distorted (none)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02005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0.323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02005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27.66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5020056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0200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1B2A41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30952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Wiener (fixed)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33095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0.311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33095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25.70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330952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2.78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5330952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1B2A41"/>
                </a:solidFill>
                <a:latin typeface="Calibri"/>
              </a:rPr>
              <a:t>collapses at severe level (F1=0.017)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41848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Wiener (tuned)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64184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0.357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64184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28.31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5641848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1.49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418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1B2A41"/>
                </a:solidFill>
                <a:latin typeface="Calibri"/>
              </a:rPr>
              <a:t>production choice — best detection F1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52744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Richardson-Lucy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95274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0.291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95274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27.58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95274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2A41"/>
                </a:solidFill>
                <a:latin typeface="Calibri"/>
              </a:rPr>
              <a:t>2.04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95274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1B2A41"/>
                </a:solidFill>
                <a:latin typeface="Calibri"/>
              </a:rPr>
              <a:t>cleanest-looking, worst for detection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663440"/>
            <a:ext cx="10927080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1"/>
                </a:solidFill>
                <a:latin typeface="Cambria"/>
              </a:rPr>
              <a:t>Results: Object Detection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Detection F1 vs. real BDD100K ground truth — solid = distorted, dashed = after restoration</a:t>
            </a:r>
          </a:p>
        </p:txBody>
      </p:sp>
      <p:pic>
        <p:nvPicPr>
          <p:cNvPr id="4" name="Picture 3" descr="det_f1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17320"/>
            <a:ext cx="9326880" cy="5102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1"/>
                </a:solidFill>
                <a:latin typeface="Cambria"/>
              </a:rPr>
              <a:t>Results: Edge/Corner &amp; Line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Measured against each image's own clean-image output (no external GT available for these low-level tasks)</a:t>
            </a:r>
          </a:p>
        </p:txBody>
      </p:sp>
      <p:pic>
        <p:nvPicPr>
          <p:cNvPr id="4" name="Picture 3" descr="edge_iou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760720" cy="3154680"/>
          </a:xfrm>
          <a:prstGeom prst="rect">
            <a:avLst/>
          </a:prstGeom>
        </p:spPr>
      </p:pic>
      <p:pic>
        <p:nvPicPr>
          <p:cNvPr id="5" name="Picture 4" descr="line_iou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463040"/>
            <a:ext cx="5760720" cy="3154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B2A41"/>
                </a:solidFill>
                <a:latin typeface="Calibri"/>
              </a:rPr>
              <a:t>Notable: </a:t>
            </a:r>
            <a:r>
              <a:rPr sz="1350" b="0" i="0">
                <a:solidFill>
                  <a:srgbClr val="5A6B7A"/>
                </a:solidFill>
                <a:latin typeface="Calibri"/>
              </a:rPr>
              <a:t>with the production restoration method (tuned Wiener), motion blur improves on both fronts at every severity level — edge IoU 0.44→0.51 and detection F1 0.32→0.36 — but that wasn't true for every method tried; see the dedicated comparison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Cambria"/>
              </a:rPr>
              <a:t>Key Findings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B2A41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07007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Clear degradation with 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81912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Compression detection F1 falls from 0.45 (mild) to 0.15 (severe) as SNR drops.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267712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B2A41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945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Restoration helps most when things are worst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69464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Deblocking barely changes mild-compression F1, but meaningfully helps at severe levels.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255264"/>
            <a:ext cx="457200" cy="45720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52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B2A41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8211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Pixel quality ≠ downstream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57016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Low-light restoration improves SNR (9.4→12.2 dB) but slightly hurts detection F1 — independently re-verified, next slide.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242816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B2A41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16966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“Cleanest-looking” restoration isn't always best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44568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Richardson-Lucy looks cleanest but has the worst detection F1 of 3 methods (0.291); tuned Wiener wins on the metric that matters (0.357) — also re-verified, next slide.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230368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2303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B2A41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157216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Baseline domain gap motivates fine-tuning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532120"/>
            <a:ext cx="9875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CADCFC"/>
                </a:solidFill>
                <a:latin typeface="Calibri"/>
              </a:rPr>
              <a:t>Even on clean images, stock YOLOv8n only reaches F1=0.45 against BDD100K's real GT.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BB0"/>
                </a:solidFill>
                <a:latin typeface="Calibri"/>
              </a:rPr>
              <a:t>Vision Robustness Under Distortion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B2A41"/>
                </a:solidFill>
                <a:latin typeface="Cambria"/>
              </a:rPr>
              <a:t>Verification: Why Restoration Can Score Worse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“Restoration hurts detection” sounds like a bug by default — checked directly rather than assumed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257800" cy="822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B2A41"/>
                </a:solidFill>
                <a:latin typeface="Calibri"/>
              </a:rPr>
              <a:t>Ruled out: data corruption</a:t>
            </a:r>
            <a:r>
              <a:rPr sz="1100" b="0" i="0">
                <a:solidFill>
                  <a:srgbClr val="5A6B7A"/>
                </a:solidFill>
                <a:latin typeface="Calibri"/>
              </a:rPr>
              <a:t>
Every restored image keeps the exact same shape/dtype as the input — confirmed programmatically, not assumed.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257800" cy="822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B2A41"/>
                </a:solidFill>
                <a:latin typeface="Calibri"/>
              </a:rPr>
              <a:t>The mechanism: verified with Laplacian variance</a:t>
            </a:r>
            <a:r>
              <a:rPr sz="1100" b="0" i="0">
                <a:solidFill>
                  <a:srgbClr val="5A6B7A"/>
                </a:solidFill>
                <a:latin typeface="Calibri"/>
              </a:rPr>
              <a:t>
A standard noise/detail proxy — real structure AND injected noise both raise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525780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86AB"/>
                </a:solidFill>
                <a:latin typeface="Cambria"/>
              </a:rPr>
              <a:t>Low-light: CLAHE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1B2A41"/>
                </a:solidFill>
                <a:latin typeface="Calibri"/>
              </a:rPr>
              <a:t>2 correct detections → </a:t>
            </a:r>
            <a:r>
              <a:rPr sz="1200" b="1" i="0">
                <a:solidFill>
                  <a:srgbClr val="C0392B"/>
                </a:solidFill>
                <a:latin typeface="Calibri"/>
              </a:rPr>
              <a:t>0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 after restoration, despite brightness genuinely improving (11.3→38.0).
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Laplacian variance in that image: </a:t>
            </a:r>
            <a:r>
              <a:rPr sz="1200" b="1" i="0">
                <a:solidFill>
                  <a:srgbClr val="2E86AB"/>
                </a:solidFill>
                <a:latin typeface="Calibri"/>
              </a:rPr>
              <a:t>clean=456, distorted=211, restored=1451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 — CLAHE injects 3× more high-frequency noise than even the clean image has.
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Checked at scale (40 images): restored texture exceeds clean's own level in </a:t>
            </a:r>
            <a:r>
              <a:rPr sz="1200" b="1" i="0">
                <a:solidFill>
                  <a:srgbClr val="2E86AB"/>
                </a:solidFill>
                <a:latin typeface="Calibri"/>
              </a:rPr>
              <a:t>35/40 images (87.5%)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468880"/>
            <a:ext cx="5257800" cy="2788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63347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B8C5A"/>
                </a:solidFill>
                <a:latin typeface="Cambria"/>
              </a:rPr>
              <a:t>Motion blur: Richardson-Lucy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175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1B2A41"/>
                </a:solidFill>
                <a:latin typeface="Calibri"/>
              </a:rPr>
              <a:t>7 detections (distorted) → 5, </a:t>
            </a:r>
            <a:r>
              <a:rPr sz="1200" b="1" i="0">
                <a:solidFill>
                  <a:srgbClr val="5B8C5A"/>
                </a:solidFill>
                <a:latin typeface="Calibri"/>
              </a:rPr>
              <a:t>higher confidence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 (tuned Wiener) vs. → </a:t>
            </a:r>
            <a:r>
              <a:rPr sz="1200" b="1" i="0">
                <a:solidFill>
                  <a:srgbClr val="C0392B"/>
                </a:solidFill>
                <a:latin typeface="Calibri"/>
              </a:rPr>
              <a:t>1, low confidence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 (Richardson-Lucy).
</a:t>
            </a:r>
            <a:r>
              <a:rPr sz="1200" b="1" i="0">
                <a:solidFill>
                  <a:srgbClr val="5B8C5A"/>
                </a:solidFill>
                <a:latin typeface="Calibri"/>
              </a:rPr>
              <a:t>Laplacian variance: distorted=48, wiener_tuned=13 (smooths), richardson_lucy=57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 — RL adds MORE high-frequency noise than the original blur.
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Checked at scale (40 images): RL exceeds the distorted image's own noise level in </a:t>
            </a:r>
            <a:r>
              <a:rPr sz="1200" b="1" i="0">
                <a:solidFill>
                  <a:srgbClr val="5B8C5A"/>
                </a:solidFill>
                <a:latin typeface="Calibri"/>
              </a:rPr>
              <a:t>39/39 images (100%)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2A41"/>
                </a:solidFill>
                <a:latin typeface="Calibri"/>
              </a:rPr>
              <a:t>Honest caveat: </a:t>
            </a:r>
            <a:r>
              <a:rPr sz="1150" b="0" i="0">
                <a:solidFill>
                  <a:srgbClr val="5A6B7A"/>
                </a:solidFill>
                <a:latin typeface="Calibri"/>
              </a:rPr>
              <a:t>noise magnitude only weakly predicts F1 drop per-image (r ≈ −0.13). The mechanism is real and consistent in aggregate — restoration methods optimize for pixel fidelity, not for what a frozen pretrained detector finds recognizable — but a detector's response to it is nonlinear, not a simple proportional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B2A41"/>
                </a:solidFill>
                <a:latin typeface="Cambria"/>
              </a:rPr>
              <a:t>Fine-Tuning (Stage 4)</a:t>
            </a:r>
          </a:p>
        </p:txBody>
      </p:sp>
      <p:pic>
        <p:nvPicPr>
          <p:cNvPr id="3" name="Picture 2" descr="finetun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035040" cy="34838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03720" y="1097280"/>
            <a:ext cx="4663440" cy="1600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78040" y="1234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6B7A"/>
                </a:solidFill>
                <a:latin typeface="Calibri"/>
              </a:rPr>
              <a:t>Overall Detection 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1536192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 strike="sngStrike">
                <a:solidFill>
                  <a:srgbClr val="5A6B7A"/>
                </a:solidFill>
                <a:latin typeface="Cambria"/>
              </a:rPr>
              <a:t>0.267 </a:t>
            </a:r>
            <a:r>
              <a:rPr sz="2200" b="0" i="0">
                <a:solidFill>
                  <a:srgbClr val="5A6B7A"/>
                </a:solidFill>
                <a:latin typeface="Cambria"/>
              </a:rPr>
              <a:t> →  </a:t>
            </a:r>
            <a:r>
              <a:rPr sz="3000" b="1" i="0">
                <a:solidFill>
                  <a:srgbClr val="F5A623"/>
                </a:solidFill>
                <a:latin typeface="Cambria"/>
              </a:rPr>
              <a:t>0.261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A6B7A"/>
                </a:solidFill>
                <a:latin typeface="Calibri"/>
              </a:rPr>
              <a:t>baseline → fine-tuned (held-out distorted set)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2880360"/>
            <a:ext cx="46634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B2A41"/>
                </a:solidFill>
                <a:latin typeface="Cambria"/>
              </a:rPr>
              <a:t>Honest result: no clear 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3456432"/>
            <a:ext cx="41148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B7A"/>
                </a:solidFill>
                <a:latin typeface="Calibri"/>
              </a:rPr>
              <a:t>F1 is essentially flat overall — small recall gain traded for a precision drop. Results are mixed per distortion (compression improved slightly, low-light got worse).
Expected at this scale: 40–50 training images, 5–8 epochs, CPU-only — squarely the regime where catastrophic forgetting can outweigh adaptation.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B2A41"/>
                </a:solidFill>
                <a:latin typeface="Cambria"/>
              </a:rPr>
              <a:t>Process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6B7A"/>
                </a:solidFill>
                <a:latin typeface="Calibri"/>
              </a:rPr>
              <a:t>Real friction points hit while building this — documented, not hidden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4592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Dataset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63040"/>
            <a:ext cx="6903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Cityscapes and KITTI both required login-gated downloads. Switched to BDD100K, downloaded manually, filtered locally.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2880360"/>
            <a:ext cx="457200" cy="457200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69748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1GB label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97480"/>
            <a:ext cx="6903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BDD100K's full label file (~70k entries) was too big to hand off. A local script filtered it down to the 150 images actually used, in under 1MB.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1148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14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3192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The fine-tuning caching bug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931920"/>
            <a:ext cx="6903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First attempt showed byte-identical baseline vs. fine-tuned results — a cached YOLO model got mutated in-place by .train(). Fixed with two independent model instances.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7492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5349240"/>
            <a:ext cx="457200" cy="457200"/>
          </a:xfrm>
          <a:prstGeom prst="ellipse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3492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16636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B2A41"/>
                </a:solidFill>
                <a:latin typeface="Cambria"/>
              </a:rPr>
              <a:t>A restoration bug, chased across 3 attempts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6360"/>
            <a:ext cx="6903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5A6B7A"/>
                </a:solidFill>
                <a:latin typeface="Calibri"/>
              </a:rPr>
              <a:t>Fixed-balance Wiener caused striping; tuning it per-level fixed that. Richardson-Lucy then looked even better on one test image — but a full 150-image comparison showed it actually has the worst detection F1 of all 3. Tuned Wiener (the one abandoned in step 2) is the real winner.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0ADB8"/>
                </a:solidFill>
                <a:latin typeface="Calibri"/>
              </a:rPr>
              <a:t>Vision Robustness Under Distortion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480560"/>
            <a:ext cx="3657600" cy="3657600"/>
          </a:xfrm>
          <a:prstGeom prst="ellipse">
            <a:avLst/>
          </a:prstGeom>
          <a:solidFill>
            <a:srgbClr val="2E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Limitations &amp;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●  Small scale by design (150 images) — explicitly permitted for this course project; pipeline scales to any N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●  Class imbalance: zero bicycle/motorcycle/train instances in this sample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●  Edge/corner and line detection use clean-image-as-reference, not external ground truth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●  BDD100K → COCO class mapping is approximate (“rider” folds into “person”; “traffic sign” dropped)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●  Fine-tuning is a proof of concept, not a production training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7772400" cy="18288"/>
          </a:xfrm>
          <a:prstGeom prst="rect">
            <a:avLst/>
          </a:prstGeom>
          <a:solidFill>
            <a:srgbClr val="2E4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8A9BB0"/>
                </a:solidFill>
                <a:latin typeface="Calibri"/>
              </a:rPr>
              <a:t>Full code, data, results, and this report: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5A623"/>
                </a:solidFill>
                <a:latin typeface="Cambria"/>
              </a:rPr>
              <a:t>github.com  —  see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