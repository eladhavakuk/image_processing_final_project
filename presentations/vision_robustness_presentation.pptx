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2E4258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389120"/>
            <a:ext cx="3291840" cy="3291840"/>
          </a:xfrm>
          <a:prstGeom prst="ellipse">
            <a:avLst/>
          </a:prstGeom>
          <a:solidFill>
            <a:srgbClr val="2E425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OF VISION ALGORITHMS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Real-World Image Distortions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&amp; deep-learning vision tasks, evaluated on real driving imagery —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compression, low-light, and motion-blur distortions, classical restoration,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YOLO fine-tuning.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Image Processing &amp; Computer Vision — Course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13167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51960" y="13167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BDD100K — 150-image subset with real detection ground truth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176272"/>
            <a:ext cx="502920" cy="50292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76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1214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51960" y="21214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Edge/Corner detection, Line detection (both low-level, classical) + Object detection (high-level, DL)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980944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80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173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Distortions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51960" y="2926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Compression, Low-light, Motion blur — all directly relevant to dashcam footage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785616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85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17320" y="37307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51960" y="373075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calibrated levels per distortion, measured in PSNR (dB)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4590288"/>
            <a:ext cx="502920" cy="50292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5354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251960" y="453542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deblocking, Gamma+CLAHE, Wiener deconvolution — matched to each distortion's cause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39496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417320" y="53400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251960" y="534009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only — the classical tasks have no trainable weights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Four-Stage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passes through all four stages, evaluated on all 3 tasks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3060" y="2651760"/>
            <a:ext cx="640080" cy="64008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16230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evaluation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original image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54680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7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520440" y="237744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265176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43662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11880" y="3429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DISTORTED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distortions × 5 severity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applied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97880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7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37744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09460" y="2651760"/>
            <a:ext cx="640080" cy="64008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094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55080" y="3429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restoration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distorted image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41080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7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006840" y="237744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852660" y="2651760"/>
            <a:ext cx="640080" cy="64008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24" name="Text 22"/>
          <p:cNvSpPr/>
          <p:nvPr/>
        </p:nvSpPr>
        <p:spPr>
          <a:xfrm>
            <a:off x="98526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098280" y="3429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0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fine-tuned on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distorted images (detection only)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7240" y="5166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images × (1 clean + 3 distortions × 5 levels × 2 stages) → 1,600 image variants across the pipeline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BDD100K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BDD100K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●"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driving footage with genuine detection ground truth</a:t>
            </a:r>
            <a:endParaRPr lang="en-US" sz="1350" dirty="0"/>
          </a:p>
          <a:p>
            <a:pPr marL="342900" indent="-342900">
              <a:lnSpc>
                <a:spcPct val="130000"/>
              </a:lnSpc>
              <a:buSzPct val="100000"/>
              <a:buChar char="●"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Cityscapes and KITTI both required login-gated downloads that couldn't be scripted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buSzPct val="100000"/>
              <a:buChar char="●"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150-image subset, train split — small but sufficient for this scope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distribution (150-image subset)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874520" y="3913632"/>
            <a:ext cx="3291840" cy="237744"/>
          </a:xfrm>
          <a:prstGeom prst="roundRect">
            <a:avLst>
              <a:gd name="adj" fmla="val 15385"/>
            </a:avLst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5257800" y="38862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42702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light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874520" y="4297680"/>
            <a:ext cx="853361" cy="237744"/>
          </a:xfrm>
          <a:prstGeom prst="roundRect">
            <a:avLst>
              <a:gd name="adj" fmla="val 15385"/>
            </a:avLst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2819321" y="4270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654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874520" y="4681728"/>
            <a:ext cx="177072" cy="237744"/>
          </a:xfrm>
          <a:prstGeom prst="roundRect">
            <a:avLst>
              <a:gd name="adj" fmla="val 20656"/>
            </a:avLst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2143032" y="46542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874520" y="5065776"/>
            <a:ext cx="91736" cy="237744"/>
          </a:xfrm>
          <a:prstGeom prst="roundRect">
            <a:avLst>
              <a:gd name="adj" fmla="val 39871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2057696" y="50383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4223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874520" y="5449824"/>
            <a:ext cx="73152" cy="23774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2039112" y="5422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pic>
        <p:nvPicPr>
          <p:cNvPr id="21" name="Image 0" descr="/home/claude/project/presentations/assets/detection_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280160"/>
            <a:ext cx="5486400" cy="21579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080760" y="34747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sanity check — predictions (green) vs. ground truth (red), clean vs. severe low-light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80760" y="416052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55080" y="43159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35508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bicycle/motorcycle/train instances in this sample; heavily skewed toward cars and traffic lights. Per-class metrics for rare classes aren't meaningful at this scale.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Tasks: Low-Level + High-Level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29000" cy="48006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691640"/>
            <a:ext cx="594360" cy="5943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Corner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1440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4612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· CLASSICAL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cv2.Canny + goodFeaturesToTrack (Shi-Tomasi) + ORB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461772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GT exists — measured against the clean image's own output (edge IoU, corner ratio, ORB match ratio)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371600"/>
            <a:ext cx="3429000" cy="48006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691640"/>
            <a:ext cx="594360" cy="59436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63440" y="242316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66344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5B8C5A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324612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· CLASSICAL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63440" y="37947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cv2.Canny + HoughLinesP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461772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an original optical-flow/tracking plan that needed video frames we didn't have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1371600"/>
            <a:ext cx="3429000" cy="48006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1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58200" y="1691640"/>
            <a:ext cx="594360" cy="5943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8458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412480" y="242316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41248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0" y="324612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· DEEP LEARNING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412480" y="37947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YOLOv8n (COCO-pretrained)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12480" y="461772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task with real ground truth — scored with proper IoU-matched precision/recall/F1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Distortions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direct relevance to dashcam/driving conditions — 5 calibrated severity levels each, measured in PSNR (dB)</a:t>
            </a:r>
            <a:endParaRPr lang="en-US" sz="1300" dirty="0"/>
          </a:p>
        </p:txBody>
      </p:sp>
      <p:pic>
        <p:nvPicPr>
          <p:cNvPr id="4" name="Image 0" descr="/home/claude/project/presentations/assets/before_after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371600"/>
            <a:ext cx="5715000" cy="39593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55448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2E86AB"/>
          </a:solidFill>
          <a:ln/>
        </p:spPr>
      </p:sp>
      <p:sp>
        <p:nvSpPr>
          <p:cNvPr id="6" name="Text 3"/>
          <p:cNvSpPr/>
          <p:nvPr/>
        </p:nvSpPr>
        <p:spPr>
          <a:xfrm>
            <a:off x="1024128" y="14996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18470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50→3 → ~39→24 dB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26060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5A623"/>
          </a:solidFill>
          <a:ln/>
        </p:spPr>
      </p:sp>
      <p:sp>
        <p:nvSpPr>
          <p:cNvPr id="9" name="Text 6"/>
          <p:cNvSpPr/>
          <p:nvPr/>
        </p:nvSpPr>
        <p:spPr>
          <a:xfrm>
            <a:off x="1024128" y="25511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Low-light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0080" y="289864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-0.2→-0.9 → ~18→7 dB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5B8C5A"/>
          </a:solidFill>
          <a:ln/>
        </p:spPr>
      </p:sp>
      <p:sp>
        <p:nvSpPr>
          <p:cNvPr id="12" name="Text 9"/>
          <p:cNvSpPr/>
          <p:nvPr/>
        </p:nvSpPr>
        <p:spPr>
          <a:xfrm>
            <a:off x="1024128" y="36027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Motion blur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40080" y="3950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5→31px → ~33→25 dB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920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blur uses a known, controlled linear kernel (not random) — so restoration can be genuine non-blind deconvolution.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Restoration Methods (Stage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128016" cy="13716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1627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84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filter on Y (luma) channel only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0" y="1719072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Smooths blocking artifacts while preserving color and most edges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017520"/>
            <a:ext cx="128016" cy="13716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91640" y="31821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Low-light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91640" y="36393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correction (γ=0.35) + CLAHE on L channel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3273552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shadow detail, then boosts local contrast without blowing out highlights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572000"/>
            <a:ext cx="128016" cy="13716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983480"/>
            <a:ext cx="548640" cy="54864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4736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Motion blur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51937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Wiener deconvolution using the known blur kernel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0" y="4828032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non-blind deconvolution — we control the exact kernel used to create the distortion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Object Detection Robustness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F1 vs. real BDD100K ground truth — solid = distorted, dashed = after restoration</a:t>
            </a:r>
            <a:endParaRPr lang="en-US" sz="1300" dirty="0"/>
          </a:p>
        </p:txBody>
      </p:sp>
      <p:pic>
        <p:nvPicPr>
          <p:cNvPr id="4" name="Image 0" descr="/home/claude/project/presentations/assets/det_f1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17320"/>
            <a:ext cx="9326880" cy="5102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Edge/Corner &amp; Line Detection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each image's own clean-image output (no external GT available for these low-level tasks)</a:t>
            </a:r>
            <a:endParaRPr lang="en-US" sz="1300" dirty="0"/>
          </a:p>
        </p:txBody>
      </p:sp>
      <p:pic>
        <p:nvPicPr>
          <p:cNvPr id="4" name="Image 0" descr="/home/claude/project/presentations/assets/edge_iou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63040"/>
            <a:ext cx="5760720" cy="3154680"/>
          </a:xfrm>
          <a:prstGeom prst="rect">
            <a:avLst/>
          </a:prstGeom>
        </p:spPr>
      </p:pic>
      <p:pic>
        <p:nvPicPr>
          <p:cNvPr id="5" name="Image 1" descr="/home/claude/project/presentations/assets/line_iou_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760720" cy="3154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4F6F8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49834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Notable: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properly regularized deconvolution (see Process Highlights), motion-blur restoration genuinely improves edge structure (edge IoU 0.44→0.51) — an earlier, under-regularized version looked better on paper but was actually inventing fake structure.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12070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degradation with severity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819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detection F1 falls from 0.45 (mild) to 0.15 (severe) as SNR drops.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21671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Restoration helps most when things are worst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542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Deblocking barely changes mild-compression F1, but meaningfully helps at severe levels.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1272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Pixel quality ≠ downstream performance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5021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Low-light restoration improves SNR (9.4→12.2 dB) but slightly hurts detection F1.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416052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71600" y="408736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Regularization strength matters as much as the method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Wiener deconvolution setting caused ringing artifacts at severe blur; scaling it with severity fixed both the visuals and the numbers (F1 0.32→0.36).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371600" y="50474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domain gap motivates fine-tuning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54223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on clean images, stock YOLOv8n only reaches F1=0.45 against BDD100K's real GT.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 (Stage 4)</a:t>
            </a:r>
            <a:endParaRPr lang="en-US" sz="3000" dirty="0"/>
          </a:p>
        </p:txBody>
      </p:sp>
      <p:pic>
        <p:nvPicPr>
          <p:cNvPr id="3" name="Image 0" descr="/home/claude/project/presentations/assets/finetun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6035040" cy="34838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03720" y="10972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/>
        </p:spPr>
      </p:sp>
      <p:sp>
        <p:nvSpPr>
          <p:cNvPr id="5" name="Text 2"/>
          <p:cNvSpPr/>
          <p:nvPr/>
        </p:nvSpPr>
        <p:spPr>
          <a:xfrm>
            <a:off x="717804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Detection F1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178040" y="1536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trike="sngStrike" dirty="0">
                <a:solidFill>
                  <a:srgbClr val="5A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0.267 </a:t>
            </a:r>
            <a:pPr indent="0" marL="0">
              <a:buNone/>
            </a:pPr>
            <a:r>
              <a:rPr lang="en-US" sz="2200" dirty="0">
                <a:solidFill>
                  <a:srgbClr val="5A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 </a:t>
            </a:r>
            <a:pPr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17804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→ fine-tuned (held-out distorted set)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903720" y="2880360"/>
            <a:ext cx="46634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7804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result: no clear win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78040" y="3456432"/>
            <a:ext cx="4114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is essentially flat overall — small recall gain traded for a precision drop. Results are mixed per distortion (compression improved slightly, low-light got worse).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at this scale: 40–50 training images, 5–8 epochs, CPU-only — squarely the regime where catastrophic forgetting can outweigh adaptation.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friction points hit while building this — documented, not hidden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4592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1463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access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43400" y="146304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Cityscapes and KITTI both required login-gated downloads. Switched to BDD100K, downloaded manually, filtered locally.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457200" cy="45720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5544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1GB label file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343400" y="269748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BDD100K's full label file (~70k entries) was too big to hand off. A local script filtered it down to the 150 images actually used, in under 1MB.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1148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fine-tuning caching bug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343400" y="393192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 showed byte-identical baseline vs. fine-tuned results — a cached YOLO model got mutated in-place by .train(). Fixed with two independent model instances.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534924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54480" y="5166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visibly broken restoration, caught on review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343400" y="516636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Motion-blur restoration showed severe striping at high severity — a fixed deconvolution regularizer was amplifying noise. Scaling it with severity fixed both the look and the numbers (F1 0.32→0.36).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Robustness Under Distortion  •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3657600" cy="3657600"/>
          </a:xfrm>
          <a:prstGeom prst="ellipse">
            <a:avLst/>
          </a:prstGeom>
          <a:solidFill>
            <a:srgbClr val="2E425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●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scale by design (150 images) — explicitly permitted for this course project; pipeline scales to any N</a:t>
            </a:r>
            <a:endParaRPr lang="en-US" sz="1400" dirty="0"/>
          </a:p>
          <a:p>
            <a:pPr marL="342900" indent="-342900">
              <a:lnSpc>
                <a:spcPct val="140000"/>
              </a:lnSpc>
              <a:buSzPct val="100000"/>
              <a:buChar char="●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zero bicycle/motorcycle/train instances in this sample</a:t>
            </a:r>
            <a:endParaRPr lang="en-US" sz="1400" dirty="0"/>
          </a:p>
          <a:p>
            <a:pPr marL="342900" indent="-342900">
              <a:lnSpc>
                <a:spcPct val="140000"/>
              </a:lnSpc>
              <a:buSzPct val="100000"/>
              <a:buChar char="●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Edge/corner and line detection use clean-image-as-reference, not external ground truth</a:t>
            </a:r>
            <a:endParaRPr lang="en-US" sz="1400" dirty="0"/>
          </a:p>
          <a:p>
            <a:pPr marL="342900" indent="-342900">
              <a:lnSpc>
                <a:spcPct val="140000"/>
              </a:lnSpc>
              <a:buSzPct val="100000"/>
              <a:buChar char="●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BDD100K → COCO class mapping is approximate (“rider” folds into “person”; “traffic sign” dropped)</a:t>
            </a:r>
            <a:endParaRPr lang="en-US" sz="1400" dirty="0"/>
          </a:p>
          <a:p>
            <a:pPr marL="342900" indent="-342900">
              <a:lnSpc>
                <a:spcPct val="140000"/>
              </a:lnSpc>
              <a:buSzPct val="100000"/>
              <a:buChar char="●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is a proof of concept, not a production training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7772400" cy="0"/>
          </a:xfrm>
          <a:prstGeom prst="line">
            <a:avLst/>
          </a:prstGeom>
          <a:noFill/>
          <a:ln w="19050">
            <a:solidFill>
              <a:srgbClr val="2E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code, data, results, and this report: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 —  see README.md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806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2026-07-12T06:33:33Z</dcterms:created>
  <dcterms:modified xsi:type="dcterms:W3CDTF">2026-07-12T06:33:33Z</dcterms:modified>
</cp:coreProperties>
</file>