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E4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389120"/>
            <a:ext cx="3291840" cy="3291840"/>
          </a:xfrm>
          <a:prstGeom prst="ellipse">
            <a:avLst/>
          </a:prstGeom>
          <a:solidFill>
            <a:srgbClr val="2E4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ROBUSTNESS OF VISION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>
                <a:solidFill>
                  <a:srgbClr val="F5A623"/>
                </a:solidFill>
                <a:latin typeface="Cambria"/>
              </a:rPr>
              <a:t>Under Real-World Image Distortions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Classical &amp; deep-learning vision tasks, evaluated on real driving imagery —
compression, low-light, and motion-blur distortions, classical restoration,
and YOLO fine-tuning.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9BB0"/>
                </a:solidFill>
                <a:latin typeface="Calibri"/>
              </a:rPr>
              <a:t>Digital Image Processing &amp; Computer Vision — Course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2A41"/>
                </a:solidFill>
                <a:latin typeface="Cambria"/>
              </a:rPr>
              <a:t>Project at a Glance</a:t>
            </a:r>
          </a:p>
        </p:txBody>
      </p:sp>
      <p:sp>
        <p:nvSpPr>
          <p:cNvPr id="3" name="Oval 2"/>
          <p:cNvSpPr/>
          <p:nvPr/>
        </p:nvSpPr>
        <p:spPr>
          <a:xfrm>
            <a:off x="685800" y="1371600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316736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41"/>
                </a:solidFill>
                <a:latin typeface="Cambria"/>
              </a:rP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1316736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A"/>
                </a:solidFill>
                <a:latin typeface="Calibri"/>
              </a:rPr>
              <a:t>BDD100K — 150-image subset with real detection ground truth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176272"/>
            <a:ext cx="502920" cy="502920"/>
          </a:xfrm>
          <a:prstGeom prst="ellipse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762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21408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41"/>
                </a:solidFill>
                <a:latin typeface="Cambria"/>
              </a:rPr>
              <a:t>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2121408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A"/>
                </a:solidFill>
                <a:latin typeface="Calibri"/>
              </a:rPr>
              <a:t>Edge/Corner detection, Line detection (both low-level, classical) + Object detection (high-level, DL)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2980944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809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92607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41"/>
                </a:solidFill>
                <a:latin typeface="Cambria"/>
              </a:rPr>
              <a:t>Distortions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926079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A"/>
                </a:solidFill>
                <a:latin typeface="Calibri"/>
              </a:rPr>
              <a:t>Compression, Low-light, Motion blur — all directly relevant to dashcam footage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785615"/>
            <a:ext cx="502920" cy="50292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85615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73075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41"/>
                </a:solidFill>
                <a:latin typeface="Cambria"/>
              </a:rPr>
              <a:t>Severity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730752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A"/>
                </a:solidFill>
                <a:latin typeface="Calibri"/>
              </a:rPr>
              <a:t>5 calibrated levels per distortion, measured in PSNR (dB)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4590288"/>
            <a:ext cx="502920" cy="502920"/>
          </a:xfrm>
          <a:prstGeom prst="ellipse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590288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53542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41"/>
                </a:solidFill>
                <a:latin typeface="Cambria"/>
              </a:rPr>
              <a:t>Restoration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535424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A"/>
                </a:solidFill>
                <a:latin typeface="Calibri"/>
              </a:rPr>
              <a:t>Bilateral deblocking, Gamma+CLAHE, Wiener deconvolution (tuned per severity) — matched to each distortion's cause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5394959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39495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340096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41"/>
                </a:solidFill>
                <a:latin typeface="Cambria"/>
              </a:rPr>
              <a:t>Fine-tuning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5340096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A"/>
                </a:solidFill>
                <a:latin typeface="Calibri"/>
              </a:rPr>
              <a:t>YOLOv8n only — the classical tasks have no trainable weights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0ADB8"/>
                </a:solidFill>
                <a:latin typeface="Calibri"/>
              </a:rPr>
              <a:t>Vision Robustness Under Distortion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2A41"/>
                </a:solidFill>
                <a:latin typeface="Cambria"/>
              </a:rPr>
              <a:t>Four-Stage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A6B7A"/>
                </a:solidFill>
                <a:latin typeface="Calibri"/>
              </a:rPr>
              <a:t>Every image passes through all four stages, evaluated on all 3 tasks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377440"/>
            <a:ext cx="23317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23060" y="2651760"/>
            <a:ext cx="640080" cy="64008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23060" y="26517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429000"/>
            <a:ext cx="2148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B2A41"/>
                </a:solidFill>
                <a:latin typeface="Cambria"/>
              </a:rPr>
              <a:t>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A6B7A"/>
                </a:solidFill>
                <a:latin typeface="Calibri"/>
              </a:rPr>
              <a:t>Baseline evaluation
on the original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79" y="3200400"/>
            <a:ext cx="320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B7C2CC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2377440"/>
            <a:ext cx="23317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66260" y="2651760"/>
            <a:ext cx="640080" cy="6400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6260" y="26517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429000"/>
            <a:ext cx="2148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B2A41"/>
                </a:solidFill>
                <a:latin typeface="Cambria"/>
              </a:rPr>
              <a:t>DISTORTED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84048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A6B7A"/>
                </a:solidFill>
                <a:latin typeface="Calibri"/>
              </a:rPr>
              <a:t>3 distortions × 5 severity
levels applied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3200400"/>
            <a:ext cx="320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B7C2CC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377440"/>
            <a:ext cx="23317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109460" y="2651760"/>
            <a:ext cx="640080" cy="640080"/>
          </a:xfrm>
          <a:prstGeom prst="ellipse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09460" y="26517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79" y="3429000"/>
            <a:ext cx="2148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B2A41"/>
                </a:solidFill>
                <a:latin typeface="Cambria"/>
              </a:rPr>
              <a:t>RESTORED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4048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A6B7A"/>
                </a:solidFill>
                <a:latin typeface="Calibri"/>
              </a:rPr>
              <a:t>Classical restoration
applied to distorted image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200400"/>
            <a:ext cx="320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 i="0">
                <a:solidFill>
                  <a:srgbClr val="B7C2CC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2377440"/>
            <a:ext cx="233172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52660" y="2651760"/>
            <a:ext cx="640080" cy="640080"/>
          </a:xfrm>
          <a:prstGeom prst="ellipse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52660" y="26517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429000"/>
            <a:ext cx="21488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B2A41"/>
                </a:solidFill>
                <a:latin typeface="Cambria"/>
              </a:rPr>
              <a:t>FINE-TUNED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840480"/>
            <a:ext cx="2057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0">
                <a:solidFill>
                  <a:srgbClr val="5A6B7A"/>
                </a:solidFill>
                <a:latin typeface="Calibri"/>
              </a:rPr>
              <a:t>YOLOv8n fine-tuned on
distorted images (detection only)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16636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5A6B7A"/>
                </a:solidFill>
                <a:latin typeface="Calibri"/>
              </a:rPr>
              <a:t>100 images × (1 clean + 3 distortions × 5 levels × 2 stages) → 1,600 image variants across the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0ADB8"/>
                </a:solidFill>
                <a:latin typeface="Calibri"/>
              </a:rPr>
              <a:t>Vision Robustness Under Distortion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2A41"/>
                </a:solidFill>
                <a:latin typeface="Cambria"/>
              </a:rPr>
              <a:t>Dataset: BDD100K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E86AB"/>
                </a:solidFill>
                <a:latin typeface="Cambria"/>
              </a:rPr>
              <a:t>Why BDD100K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51206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350">
                <a:solidFill>
                  <a:srgbClr val="1B2A41"/>
                </a:solidFill>
                <a:latin typeface="Calibri"/>
              </a:rPr>
              <a:t>●  Real driving footage with genuine detection ground truth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350">
                <a:solidFill>
                  <a:srgbClr val="1B2A41"/>
                </a:solidFill>
                <a:latin typeface="Calibri"/>
              </a:rPr>
              <a:t>●  Cityscapes and KITTI both required login-gated downloads that couldn't be scripted</a:t>
            </a:r>
          </a:p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350">
                <a:solidFill>
                  <a:srgbClr val="1B2A41"/>
                </a:solidFill>
                <a:latin typeface="Calibri"/>
              </a:rPr>
              <a:t>●  150-image subset, train split — small but sufficient for this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290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E86AB"/>
                </a:solidFill>
                <a:latin typeface="Cambria"/>
              </a:rPr>
              <a:t>Class distribution (150-image subset)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8620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car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74519" y="3913632"/>
            <a:ext cx="3291840" cy="237744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57800" y="388620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B7A"/>
                </a:solidFill>
                <a:latin typeface="Calibri"/>
              </a:rPr>
              <a:t>1543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70248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traffic light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19" y="4297680"/>
            <a:ext cx="853360" cy="237744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19320" y="427024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B7A"/>
                </a:solidFill>
                <a:latin typeface="Calibri"/>
              </a:rPr>
              <a:t>400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54296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truck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74519" y="4681728"/>
            <a:ext cx="177072" cy="237744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3032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B7A"/>
                </a:solidFill>
                <a:latin typeface="Calibri"/>
              </a:rPr>
              <a:t>83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38344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bus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74519" y="5065776"/>
            <a:ext cx="91736" cy="237744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57696" y="5038344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B7A"/>
                </a:solidFill>
                <a:latin typeface="Calibri"/>
              </a:rPr>
              <a:t>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2239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person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449824"/>
            <a:ext cx="73152" cy="237744"/>
          </a:xfrm>
          <a:prstGeom prst="roundRect">
            <a:avLst>
              <a:gd name="adj" fmla="val 3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39112" y="542239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B7A"/>
                </a:solidFill>
                <a:latin typeface="Calibri"/>
              </a:rPr>
              <a:t>13</a:t>
            </a:r>
          </a:p>
        </p:txBody>
      </p:sp>
      <p:pic>
        <p:nvPicPr>
          <p:cNvPr id="21" name="Picture 20" descr="detection_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280160"/>
            <a:ext cx="5486400" cy="215798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80760" y="3474720"/>
            <a:ext cx="5486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5A6B7A"/>
                </a:solidFill>
                <a:latin typeface="Calibri"/>
              </a:rPr>
              <a:t>GT sanity check — predictions (green) vs. ground truth (red), clean vs. severe low-light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80760" y="4160520"/>
            <a:ext cx="54864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431596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1"/>
                </a:solidFill>
                <a:latin typeface="Cambria"/>
              </a:rPr>
              <a:t>Known limitation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663440"/>
            <a:ext cx="4937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5A6B7A"/>
                </a:solidFill>
                <a:latin typeface="Calibri"/>
              </a:rPr>
              <a:t>Zero bicycle/motorcycle/train instances in this sample; heavily skewed toward cars and traffic lights. Per-class metrics for rare classes aren't meaningful at this scale.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0ADB8"/>
                </a:solidFill>
                <a:latin typeface="Calibri"/>
              </a:rPr>
              <a:t>Vision Robustness Under Distortion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2A41"/>
                </a:solidFill>
                <a:latin typeface="Cambria"/>
              </a:rPr>
              <a:t>Three Tasks: Low-Level + High-Level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42900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19" y="1691640"/>
            <a:ext cx="594360" cy="59436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19" y="16916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B2A41"/>
                </a:solidFill>
                <a:latin typeface="Cambria"/>
              </a:rPr>
              <a:t>Edge / Corner
Detection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46120"/>
            <a:ext cx="2880360" cy="329184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46120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LOW-LEVEL · CLASSICAL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2880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Calibri"/>
              </a:rPr>
              <a:t>cv2.Canny + goodFeaturesToTrack (Shi-Tomasi) + ORB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28803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1">
                <a:solidFill>
                  <a:srgbClr val="5A6B7A"/>
                </a:solidFill>
                <a:latin typeface="Calibri"/>
              </a:rPr>
              <a:t>No GT exists — measured against the clean image's own output (edge IoU, corner ratio, ORB match ratio)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42900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09159" y="1691640"/>
            <a:ext cx="594360" cy="594360"/>
          </a:xfrm>
          <a:prstGeom prst="ellipse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6916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423160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B2A41"/>
                </a:solidFill>
                <a:latin typeface="Cambria"/>
              </a:rPr>
              <a:t>Line
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3246120"/>
            <a:ext cx="2880360" cy="329184"/>
          </a:xfrm>
          <a:prstGeom prst="roundRect">
            <a:avLst>
              <a:gd name="adj" fmla="val 50000"/>
            </a:avLst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3246120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LOW-LEVEL · CLASSICAL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794760"/>
            <a:ext cx="2880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Calibri"/>
              </a:rPr>
              <a:t>cv2.Canny + HoughLinesP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617720"/>
            <a:ext cx="28803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1">
                <a:solidFill>
                  <a:srgbClr val="5A6B7A"/>
                </a:solidFill>
                <a:latin typeface="Calibri"/>
              </a:rPr>
              <a:t>Replaced an original optical-flow/tracking plan that needed video frames we didn't have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9" y="1371600"/>
            <a:ext cx="3429000" cy="4800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58199" y="1691640"/>
            <a:ext cx="594360" cy="5943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199" y="169164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423160"/>
            <a:ext cx="2880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1B2A41"/>
                </a:solidFill>
                <a:latin typeface="Cambria"/>
              </a:rPr>
              <a:t>Object
Detection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3246120"/>
            <a:ext cx="2880360" cy="329184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3246120"/>
            <a:ext cx="28803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HIGH-LEVEL · DEEP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794760"/>
            <a:ext cx="28803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B2A41"/>
                </a:solidFill>
                <a:latin typeface="Calibri"/>
              </a:rPr>
              <a:t>ultralytics YOLOv8n (COCO-pretrained)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617720"/>
            <a:ext cx="28803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1">
                <a:solidFill>
                  <a:srgbClr val="5A6B7A"/>
                </a:solidFill>
                <a:latin typeface="Calibri"/>
              </a:rPr>
              <a:t>The one task with real ground truth — scored with proper IoU-matched precision/recall/F1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0ADB8"/>
                </a:solidFill>
                <a:latin typeface="Calibri"/>
              </a:rPr>
              <a:t>Vision Robustness Under Distortion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2A41"/>
                </a:solidFill>
                <a:latin typeface="Cambria"/>
              </a:rPr>
              <a:t>Three Distortions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9611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6B7A"/>
                </a:solidFill>
                <a:latin typeface="Calibri"/>
              </a:rPr>
              <a:t>Chosen for direct relevance to dashcam/driving conditions — 5 calibrated severity levels each, measured in PSNR (dB)</a:t>
            </a:r>
          </a:p>
        </p:txBody>
      </p:sp>
      <p:pic>
        <p:nvPicPr>
          <p:cNvPr id="4" name="Picture 3" descr="before_after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371600"/>
            <a:ext cx="5715000" cy="395935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1554480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499616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41"/>
                </a:solidFill>
                <a:latin typeface="Cambria"/>
              </a:rPr>
              <a:t>Compression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47088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B7A"/>
                </a:solidFill>
                <a:latin typeface="Calibri"/>
              </a:rPr>
              <a:t>quality 50→3 → ~39→24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39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551175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41"/>
                </a:solidFill>
                <a:latin typeface="Cambria"/>
              </a:rPr>
              <a:t>Low-light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98647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B7A"/>
                </a:solidFill>
                <a:latin typeface="Calibri"/>
              </a:rPr>
              <a:t>brightness -0.2→-0.9 → ~18→7 dB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599"/>
            <a:ext cx="256032" cy="256032"/>
          </a:xfrm>
          <a:prstGeom prst="roundRect">
            <a:avLst>
              <a:gd name="adj" fmla="val 20000"/>
            </a:avLst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602735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B2A41"/>
                </a:solidFill>
                <a:latin typeface="Cambria"/>
              </a:rPr>
              <a:t>Motion blur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950207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A6B7A"/>
                </a:solidFill>
                <a:latin typeface="Calibri"/>
              </a:rPr>
              <a:t>kernel 5→31px → ~33→25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92040"/>
            <a:ext cx="24688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5A6B7A"/>
                </a:solidFill>
                <a:latin typeface="Calibri"/>
              </a:rPr>
              <a:t>Motion blur uses a known, controlled linear kernel (not random) — so restoration can be genuine non-blind deconvolution.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0ADB8"/>
                </a:solidFill>
                <a:latin typeface="Calibri"/>
              </a:rPr>
              <a:t>Vision Robustness Under Distortion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2A41"/>
                </a:solidFill>
                <a:latin typeface="Cambria"/>
              </a:rPr>
              <a:t>Restoration Methods (Stage 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874520"/>
            <a:ext cx="548640" cy="54864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62763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41"/>
                </a:solidFill>
                <a:latin typeface="Cambria"/>
              </a:rPr>
              <a:t>Compression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084832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2E86AB"/>
                </a:solidFill>
                <a:latin typeface="Calibri"/>
              </a:rPr>
              <a:t>Bilateral filter on Y (luma) channel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719072"/>
            <a:ext cx="69494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B7A"/>
                </a:solidFill>
                <a:latin typeface="Calibri"/>
              </a:rPr>
              <a:t>Smooths blocking artifacts while preserving color and most edges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429000"/>
            <a:ext cx="548640" cy="5486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429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18211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41"/>
                </a:solidFill>
                <a:latin typeface="Cambria"/>
              </a:rPr>
              <a:t>Low-light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639312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F5A623"/>
                </a:solidFill>
                <a:latin typeface="Calibri"/>
              </a:rPr>
              <a:t>Gamma correction (γ=0.35) + CLAHE on L 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273552"/>
            <a:ext cx="69494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B7A"/>
                </a:solidFill>
                <a:latin typeface="Calibri"/>
              </a:rPr>
              <a:t>Lifts shadow detail, then boosts local contrast without blowing out highlights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720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4983480"/>
            <a:ext cx="548640" cy="548640"/>
          </a:xfrm>
          <a:prstGeom prst="ellipse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mbria"/>
              </a:rP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736592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B2A41"/>
                </a:solidFill>
                <a:latin typeface="Cambria"/>
              </a:rPr>
              <a:t>Motion blur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193792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5B8C5A"/>
                </a:solidFill>
                <a:latin typeface="Calibri"/>
              </a:rPr>
              <a:t>Wiener deconvolution, regularization tuned per severity level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828032"/>
            <a:ext cx="69494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B7A"/>
                </a:solidFill>
                <a:latin typeface="Calibri"/>
              </a:rPr>
              <a:t>Best detection F1 of 3 methods explicitly compared (0.357 vs. 0.323 for no restoration) — see next slide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0ADB8"/>
                </a:solidFill>
                <a:latin typeface="Calibri"/>
              </a:rPr>
              <a:t>Vision Robustness Under Distortion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B2A41"/>
                </a:solidFill>
                <a:latin typeface="Cambria"/>
              </a:rPr>
              <a:t>Restoration Method Comparison: Motion Blur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6B7A"/>
                </a:solidFill>
                <a:latin typeface="Calibri"/>
              </a:rPr>
              <a:t>Three methods, kept side by side on purpose — no single metric predicted the best one for the actual task</a:t>
            </a:r>
          </a:p>
        </p:txBody>
      </p:sp>
      <p:pic>
        <p:nvPicPr>
          <p:cNvPr id="4" name="Picture 3" descr="motion_blur_method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3246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70916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6B7A"/>
                </a:solidFill>
                <a:latin typeface="Calibri"/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4709160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6B7A"/>
                </a:solidFill>
                <a:latin typeface="Calibri"/>
              </a:rPr>
              <a:t>Det. F1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470916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6B7A"/>
                </a:solidFill>
                <a:latin typeface="Calibri"/>
              </a:rPr>
              <a:t>PSNR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4709160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6B7A"/>
                </a:solidFill>
                <a:latin typeface="Calibri"/>
              </a:rPr>
              <a:t>Stripe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709160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A6B7A"/>
                </a:solidFill>
                <a:latin typeface="Calibri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0056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Distorted (none)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5020056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0.323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020056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27.66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5020056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0.54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020056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1B2A41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30952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Wiener (fixed)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5330952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0.311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330952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25.70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5330952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2.78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5330952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1B2A41"/>
                </a:solidFill>
                <a:latin typeface="Calibri"/>
              </a:rPr>
              <a:t>collapses at severe level (F1=0.017)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641848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Wiener (tuned)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5641848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0.357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5641848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28.31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5641848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1.49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5641848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1B2A41"/>
                </a:solidFill>
                <a:latin typeface="Calibri"/>
              </a:rPr>
              <a:t>production choice — best detection F1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52744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Richardson-Lucy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5952744"/>
            <a:ext cx="1280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0.291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952744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27.58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5952744"/>
            <a:ext cx="1097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A41"/>
                </a:solidFill>
                <a:latin typeface="Calibri"/>
              </a:rPr>
              <a:t>2.04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5952744"/>
            <a:ext cx="4572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1B2A41"/>
                </a:solidFill>
                <a:latin typeface="Calibri"/>
              </a:rPr>
              <a:t>cleanest-looking, worst for detection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663440"/>
            <a:ext cx="10927080" cy="18288"/>
          </a:xfrm>
          <a:prstGeom prst="rect">
            <a:avLst/>
          </a:prstGeom>
          <a:solidFill>
            <a:srgbClr val="DD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0ADB8"/>
                </a:solidFill>
                <a:latin typeface="Calibri"/>
              </a:rPr>
              <a:t>Vision Robustness Under Distortion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1"/>
                </a:solidFill>
                <a:latin typeface="Cambria"/>
              </a:rPr>
              <a:t>Results: Object Detection 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9611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6B7A"/>
                </a:solidFill>
                <a:latin typeface="Calibri"/>
              </a:rPr>
              <a:t>Detection F1 vs. real BDD100K ground truth — solid = distorted, dashed = after restoration</a:t>
            </a:r>
          </a:p>
        </p:txBody>
      </p:sp>
      <p:pic>
        <p:nvPicPr>
          <p:cNvPr id="4" name="Picture 3" descr="det_f1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417320"/>
            <a:ext cx="9326880" cy="5102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0ADB8"/>
                </a:solidFill>
                <a:latin typeface="Calibri"/>
              </a:rPr>
              <a:t>Vision Robustness Under Distortion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1"/>
                </a:solidFill>
                <a:latin typeface="Cambria"/>
              </a:rPr>
              <a:t>Results: Edge/Corner &amp; Line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9611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6B7A"/>
                </a:solidFill>
                <a:latin typeface="Calibri"/>
              </a:rPr>
              <a:t>Measured against each image's own clean-image output (no external GT available for these low-level tasks)</a:t>
            </a:r>
          </a:p>
        </p:txBody>
      </p:sp>
      <p:pic>
        <p:nvPicPr>
          <p:cNvPr id="4" name="Picture 3" descr="edge_iou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0"/>
            <a:ext cx="5760720" cy="3154680"/>
          </a:xfrm>
          <a:prstGeom prst="rect">
            <a:avLst/>
          </a:prstGeom>
        </p:spPr>
      </p:pic>
      <p:pic>
        <p:nvPicPr>
          <p:cNvPr id="5" name="Picture 4" descr="line_iou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463040"/>
            <a:ext cx="5760720" cy="31546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4846320"/>
            <a:ext cx="10881360" cy="12801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98348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 i="0">
                <a:solidFill>
                  <a:srgbClr val="1B2A41"/>
                </a:solidFill>
                <a:latin typeface="Calibri"/>
              </a:rPr>
              <a:t>Notable: </a:t>
            </a:r>
            <a:r>
              <a:rPr sz="1350" b="0" i="0">
                <a:solidFill>
                  <a:srgbClr val="5A6B7A"/>
                </a:solidFill>
                <a:latin typeface="Calibri"/>
              </a:rPr>
              <a:t>with the production restoration method (tuned Wiener), motion blur improves on both fronts at every severity level — edge IoU 0.44→0.51 and detection F1 0.32→0.36 — but that wasn't true for every method tried; see the dedicated comparison slide.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0ADB8"/>
                </a:solidFill>
                <a:latin typeface="Calibri"/>
              </a:rPr>
              <a:t>Vision Robustness Under Distortion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Key Findings</a:t>
            </a:r>
          </a:p>
        </p:txBody>
      </p:sp>
      <p:sp>
        <p:nvSpPr>
          <p:cNvPr id="3" name="Oval 2"/>
          <p:cNvSpPr/>
          <p:nvPr/>
        </p:nvSpPr>
        <p:spPr>
          <a:xfrm>
            <a:off x="685800" y="128016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280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B2A41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07007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Clear degradation with severity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81912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Compression detection F1 falls from 0.45 (mild) to 0.15 (severe) as SNR drops.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267712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6771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B2A41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94560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Restoration helps most when things are worst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69464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Deblocking barely changes mild-compression F1, but meaningfully helps at severe levels.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255264"/>
            <a:ext cx="457200" cy="457200"/>
          </a:xfrm>
          <a:prstGeom prst="ellipse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255264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B2A41"/>
                </a:solidFill>
                <a:latin typeface="Cambr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82112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Pixel quality ≠ downstream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57016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Low-light restoration improves SNR (9.4→12.2 dB) but slightly hurts detection F1.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242816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242816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B2A41"/>
                </a:solidFill>
                <a:latin typeface="Cambr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69664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“Cleanest-looking” restoration isn't always best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544568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Richardson-Lucy looks cleanest but has the worst detection F1 of 3 methods (0.291); tuned Wiener wins on the metric that matters (0.357) despite more visible artifact.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5230368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23036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1B2A41"/>
                </a:solidFill>
                <a:latin typeface="Cambr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157216"/>
            <a:ext cx="9875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mbria"/>
              </a:rPr>
              <a:t>Baseline domain gap motivates fine-tuning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532120"/>
            <a:ext cx="9875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CADCFC"/>
                </a:solidFill>
                <a:latin typeface="Calibri"/>
              </a:rPr>
              <a:t>Even on clean images, stock YOLOv8n only reaches F1=0.45 against BDD100K's real GT.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8A9BB0"/>
                </a:solidFill>
                <a:latin typeface="Calibri"/>
              </a:rPr>
              <a:t>Vision Robustness Under Distortion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B2A41"/>
                </a:solidFill>
                <a:latin typeface="Cambria"/>
              </a:rPr>
              <a:t>Fine-Tuning (Stage 4)</a:t>
            </a:r>
          </a:p>
        </p:txBody>
      </p:sp>
      <p:pic>
        <p:nvPicPr>
          <p:cNvPr id="3" name="Picture 2" descr="finetun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6035040" cy="348386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903720" y="1097280"/>
            <a:ext cx="4663440" cy="1600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78040" y="12344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7A"/>
                </a:solidFill>
                <a:latin typeface="Calibri"/>
              </a:rPr>
              <a:t>Overall Detection F1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78040" y="1536192"/>
            <a:ext cx="4114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 i="0" strike="sngStrike">
                <a:solidFill>
                  <a:srgbClr val="5A6B7A"/>
                </a:solidFill>
                <a:latin typeface="Cambria"/>
              </a:rPr>
              <a:t>0.267 </a:t>
            </a:r>
            <a:r>
              <a:rPr sz="2200" b="0" i="0">
                <a:solidFill>
                  <a:srgbClr val="5A6B7A"/>
                </a:solidFill>
                <a:latin typeface="Cambria"/>
              </a:rPr>
              <a:t> →  </a:t>
            </a:r>
            <a:r>
              <a:rPr sz="3000" b="1" i="0">
                <a:solidFill>
                  <a:srgbClr val="F5A623"/>
                </a:solidFill>
                <a:latin typeface="Cambria"/>
              </a:rPr>
              <a:t>0.261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78040" y="219456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5A6B7A"/>
                </a:solidFill>
                <a:latin typeface="Calibri"/>
              </a:rPr>
              <a:t>baseline → fine-tuned (held-out distorted set)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2880360"/>
            <a:ext cx="466344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30632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B2A41"/>
                </a:solidFill>
                <a:latin typeface="Cambria"/>
              </a:rPr>
              <a:t>Honest result: no clear 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3456432"/>
            <a:ext cx="41148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5A6B7A"/>
                </a:solidFill>
                <a:latin typeface="Calibri"/>
              </a:rPr>
              <a:t>F1 is essentially flat overall — small recall gain traded for a precision drop. Results are mixed per distortion (compression improved slightly, low-light got worse).
Expected at this scale: 40–50 training images, 5–8 epochs, CPU-only — squarely the regime where catastrophic forgetting can outweigh adaptation.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0ADB8"/>
                </a:solidFill>
                <a:latin typeface="Calibri"/>
              </a:rPr>
              <a:t>Vision Robustness Under Distortion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B2A41"/>
                </a:solidFill>
                <a:latin typeface="Cambria"/>
              </a:rPr>
              <a:t>Process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3268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A6B7A"/>
                </a:solidFill>
                <a:latin typeface="Calibri"/>
              </a:rPr>
              <a:t>Real friction points hit while building this — documented, not hidden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45920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2A41"/>
                </a:solidFill>
                <a:latin typeface="Cambria"/>
              </a:rPr>
              <a:t>Dataset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463040"/>
            <a:ext cx="6903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5A6B7A"/>
                </a:solidFill>
                <a:latin typeface="Calibri"/>
              </a:rPr>
              <a:t>Cityscapes and KITTI both required login-gated downloads. Switched to BDD100K, downloaded manually, filtered locally.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60604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2880360"/>
            <a:ext cx="457200" cy="457200"/>
          </a:xfrm>
          <a:prstGeom prst="ellipse">
            <a:avLst/>
          </a:prstGeom>
          <a:solidFill>
            <a:srgbClr val="5B8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69748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2A41"/>
                </a:solidFill>
                <a:latin typeface="Cambria"/>
              </a:rPr>
              <a:t>1GB label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697480"/>
            <a:ext cx="6903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5A6B7A"/>
                </a:solidFill>
                <a:latin typeface="Calibri"/>
              </a:rPr>
              <a:t>BDD100K's full label file (~70k entries) was too big to hand off. A local script filtered it down to the 150 images actually used, in under 1MB.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4048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11480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148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93192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2A41"/>
                </a:solidFill>
                <a:latin typeface="Cambria"/>
              </a:rPr>
              <a:t>The fine-tuning caching bug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931920"/>
            <a:ext cx="6903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5A6B7A"/>
                </a:solidFill>
                <a:latin typeface="Calibri"/>
              </a:rPr>
              <a:t>First attempt showed byte-identical baseline vs. fine-tuned results — a cached YOLO model got mutated in-place by .train(). Fixed with two independent model instances.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07492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5349240"/>
            <a:ext cx="457200" cy="457200"/>
          </a:xfrm>
          <a:prstGeom prst="ellipse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349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mbria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166360"/>
            <a:ext cx="2606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 i="0">
                <a:solidFill>
                  <a:srgbClr val="1B2A41"/>
                </a:solidFill>
                <a:latin typeface="Cambria"/>
              </a:rPr>
              <a:t>A restoration bug, chased across 3 attempts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5166360"/>
            <a:ext cx="6903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5A6B7A"/>
                </a:solidFill>
                <a:latin typeface="Calibri"/>
              </a:rPr>
              <a:t>Fixed-balance Wiener caused striping; tuning it per-level fixed that. Richardson-Lucy then looked even better on one test image — but a full 150-image comparison showed it actually has the worst detection F1 of all 3. Tuned Wiener (the one abandoned in step 2) is the real winner.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A0ADB8"/>
                </a:solidFill>
                <a:latin typeface="Calibri"/>
              </a:rPr>
              <a:t>Vision Robustness Under Distortion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4480560"/>
            <a:ext cx="3657600" cy="3657600"/>
          </a:xfrm>
          <a:prstGeom prst="ellipse">
            <a:avLst/>
          </a:prstGeom>
          <a:solidFill>
            <a:srgbClr val="2E4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mbria"/>
              </a:rPr>
              <a:t>Limitations &amp;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96012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CADCFC"/>
                </a:solidFill>
                <a:latin typeface="Calibri"/>
              </a:rPr>
              <a:t>●  Small scale by design (150 images) — explicitly permitted for this course project; pipeline scales to any N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CADCFC"/>
                </a:solidFill>
                <a:latin typeface="Calibri"/>
              </a:rPr>
              <a:t>●  Class imbalance: zero bicycle/motorcycle/train instances in this sample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CADCFC"/>
                </a:solidFill>
                <a:latin typeface="Calibri"/>
              </a:rPr>
              <a:t>●  Edge/corner and line detection use clean-image-as-reference, not external ground truth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CADCFC"/>
                </a:solidFill>
                <a:latin typeface="Calibri"/>
              </a:rPr>
              <a:t>●  BDD100K → COCO class mapping is approximate (“rider” folds into “person”; “traffic sign” dropped)</a:t>
            </a:r>
          </a:p>
          <a:p>
            <a:pPr>
              <a:lnSpc>
                <a:spcPct val="140000"/>
              </a:lnSpc>
              <a:spcAft>
                <a:spcPts val="400"/>
              </a:spcAft>
            </a:pPr>
            <a:r>
              <a:rPr sz="1400">
                <a:solidFill>
                  <a:srgbClr val="CADCFC"/>
                </a:solidFill>
                <a:latin typeface="Calibri"/>
              </a:rPr>
              <a:t>●  Fine-tuning is a proof of concept, not a production training run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7772400" cy="18288"/>
          </a:xfrm>
          <a:prstGeom prst="rect">
            <a:avLst/>
          </a:prstGeom>
          <a:solidFill>
            <a:srgbClr val="2E4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8A9BB0"/>
                </a:solidFill>
                <a:latin typeface="Calibri"/>
              </a:rPr>
              <a:t>Full code, data, results, and this report: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5A623"/>
                </a:solidFill>
                <a:latin typeface="Cambria"/>
              </a:rPr>
              <a:t>github.com  —  see 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